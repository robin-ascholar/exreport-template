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73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01" autoAdjust="0"/>
  </p:normalViewPr>
  <p:slideViewPr>
    <p:cSldViewPr snapToGrid="0">
      <p:cViewPr varScale="1">
        <p:scale>
          <a:sx n="80" d="100"/>
          <a:sy n="80" d="100"/>
        </p:scale>
        <p:origin x="56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本次实验最核心的部分——数据说明。大家拿到的不是一个现成的总表，而是按数据源划分好的多个训练集和测试集，包括海流、波浪、水质、气象和设备状态数据。这意味着，实验的第一步，也是非常关键的一步，就是需要大家自己思考如何将这些多源数据整合起来。这非常接近我们未来在工作中会遇到的真实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先来看两类物理环境数据。首先是海流数据，它告诉我们“水怎么流、流多快”，这对于理解盐度和营养盐的输运至关重要。其次是波浪数据，它描述了“浪多大、往哪走”，这会影响水体的混合程度，进而影响水质和营养盐的分布。这两类数据是理解海洋动力过程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本次实验最核心的数据——水质数据。它直接反映了水环境本身的状况，包括我们重点关注的盐度，以及各种营养盐指标，如磷酸盐、氨氮、硝酸盐等。理解这些指标的变化，是本次实验的核心任务。大家可以把它理解为对海水进行“体检”，我们要从这些“体检报告”中发现规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海洋本身的数据，我们还有两类重要的辅助数据。一是气象数据，它描述了“外界天气怎么样”，比如降雨会直接影响海水盐度。二是设备状态数据，它告诉我们“设备在哪、是否正常”，这有助于我们判断数据的可靠性。最后，别忘了仔细阅读字段说明表，它是理解所有数据的“字典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明确一下本次实验的核心主题：“海洋环境中盐度和营养盐变化规律的分析与预测”。所有的分析任务都应该围绕这个主题展开。大家可以从不同角度切入，比如，哪些因素影响了盐度？营养盐的变化是否存在周期性？我们能否预测未来的变化趋势？希望大家能带着这些问题去进行探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397000"/>
            <a:ext cx="10160000" cy="427228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49528" y="1945341"/>
            <a:ext cx="9398000" cy="1245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4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altLang="en-US" sz="4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</a:t>
            </a:r>
            <a:r>
              <a:rPr lang="en-US" sz="4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4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海洋环境数据分析</a:t>
            </a:r>
            <a:endParaRPr lang="en-US" altLang="zh-CN" sz="4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000" b="1" dirty="0" err="1">
                <a:solidFill>
                  <a:srgbClr val="002060"/>
                </a:solidFill>
                <a:latin typeface="Noto Sans SC"/>
                <a:ea typeface="Noto Sans SC"/>
                <a:cs typeface="Noto Sans SC"/>
                <a:sym typeface="Noto Sans SC"/>
              </a:rPr>
              <a:t>盐度与营养盐变化规律的分析与预测</a:t>
            </a:r>
            <a:endParaRPr lang="en-US" altLang="zh-CN" sz="2000" dirty="0">
              <a:solidFill>
                <a:srgbClr val="002060"/>
              </a:solidFill>
            </a:endParaRPr>
          </a:p>
          <a:p>
            <a:pPr indent="0" algn="ctr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834128" y="475742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</a:t>
            </a:r>
            <a:r>
              <a:rPr lang="zh-CN" alt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与深度学习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596128" y="54356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81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实验背景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1999" y="1488142"/>
            <a:ext cx="8597153" cy="1450042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1999" y="1678642"/>
            <a:ext cx="64473" cy="1016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5999" y="1615142"/>
            <a:ext cx="7253179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▍实验概述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5999" y="1996142"/>
            <a:ext cx="772458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8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真实海洋环境监测数据</a:t>
            </a:r>
            <a:r>
              <a:rPr 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，结合数据预处理、聚类、回归等方法，围绕海洋环境中的</a:t>
            </a:r>
            <a:r>
              <a:rPr lang="en-US" sz="18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盐度和营养盐变化规律</a:t>
            </a:r>
            <a:r>
              <a:rPr 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，开展自主化的数据分析与建模探索。</a:t>
            </a:r>
            <a:endParaRPr lang="en-US" sz="1800" dirty="0"/>
          </a:p>
        </p:txBody>
      </p:sp>
      <p:sp>
        <p:nvSpPr>
          <p:cNvPr id="9" name="AutoShape 9"/>
          <p:cNvSpPr/>
          <p:nvPr/>
        </p:nvSpPr>
        <p:spPr>
          <a:xfrm>
            <a:off x="762000" y="3135778"/>
            <a:ext cx="8597152" cy="1527364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1999" y="3329642"/>
            <a:ext cx="64473" cy="1143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5999" y="3266142"/>
            <a:ext cx="7253179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实验特点</a:t>
            </a:r>
            <a:r>
              <a:rPr lang="en-US" sz="18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710642"/>
            <a:ext cx="322364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499" y="3710642"/>
            <a:ext cx="4099113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理解真实数据：</a:t>
            </a:r>
            <a:r>
              <a:rPr lang="en-US" sz="20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洞察数据物理意义</a:t>
            </a:r>
            <a:endParaRPr lang="en-US" sz="20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0616" y="3722222"/>
            <a:ext cx="322364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58115" y="3722222"/>
            <a:ext cx="386752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挖掘潜在模式：</a:t>
            </a:r>
            <a:r>
              <a:rPr lang="en-US" sz="20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寻找异常与规律</a:t>
            </a:r>
            <a:endParaRPr lang="en-US" sz="20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55142"/>
            <a:ext cx="322364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499" y="4155142"/>
            <a:ext cx="3840629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自主设计流程：</a:t>
            </a:r>
            <a:r>
              <a:rPr lang="en-US" sz="20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定制个性化方案</a:t>
            </a:r>
            <a:endParaRPr lang="en-US" sz="2000" dirty="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0616" y="4128621"/>
            <a:ext cx="322364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558115" y="4128621"/>
            <a:ext cx="3678139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成果系统化：</a:t>
            </a:r>
            <a:r>
              <a:rPr lang="en-US" sz="20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输出完整分析报告</a:t>
            </a:r>
            <a:endParaRPr lang="en-US" sz="2000" dirty="0"/>
          </a:p>
        </p:txBody>
      </p:sp>
      <p:sp>
        <p:nvSpPr>
          <p:cNvPr id="20" name="AutoShape 20"/>
          <p:cNvSpPr/>
          <p:nvPr/>
        </p:nvSpPr>
        <p:spPr>
          <a:xfrm>
            <a:off x="761999" y="4917142"/>
            <a:ext cx="8532679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1999" y="5107642"/>
            <a:ext cx="64473" cy="1016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5999" y="5044142"/>
            <a:ext cx="7253179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实验核心</a:t>
            </a:r>
            <a:r>
              <a:rPr lang="en-US" sz="18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没有唯一标准答案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1015999" y="5552142"/>
            <a:ext cx="2256545" cy="508000"/>
          </a:xfrm>
          <a:prstGeom prst="roundRect">
            <a:avLst>
              <a:gd name="adj" fmla="val 20000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28916" y="5633947"/>
            <a:ext cx="225654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如何理解数据</a:t>
            </a:r>
            <a:r>
              <a:rPr lang="en-US" sz="24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2400" dirty="0"/>
          </a:p>
        </p:txBody>
      </p:sp>
      <p:sp>
        <p:nvSpPr>
          <p:cNvPr id="25" name="AutoShape 25"/>
          <p:cNvSpPr/>
          <p:nvPr/>
        </p:nvSpPr>
        <p:spPr>
          <a:xfrm>
            <a:off x="3487906" y="5537575"/>
            <a:ext cx="2256545" cy="508000"/>
          </a:xfrm>
          <a:prstGeom prst="roundRect">
            <a:avLst>
              <a:gd name="adj" fmla="val 20000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558772" y="5634134"/>
            <a:ext cx="225654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如何设计流程</a:t>
            </a:r>
            <a:r>
              <a:rPr lang="en-US" sz="20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2000" dirty="0"/>
          </a:p>
        </p:txBody>
      </p:sp>
      <p:sp>
        <p:nvSpPr>
          <p:cNvPr id="27" name="AutoShape 27"/>
          <p:cNvSpPr/>
          <p:nvPr/>
        </p:nvSpPr>
        <p:spPr>
          <a:xfrm>
            <a:off x="5815318" y="5501342"/>
            <a:ext cx="2256545" cy="508000"/>
          </a:xfrm>
          <a:prstGeom prst="roundRect">
            <a:avLst>
              <a:gd name="adj" fmla="val 20000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5815318" y="5615642"/>
            <a:ext cx="225654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如何解释结果</a:t>
            </a:r>
            <a:r>
              <a:rPr lang="en-US" sz="20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实验数据说明：多源</a:t>
            </a: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数据的挑战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" y="2032000"/>
            <a:ext cx="762000" cy="7620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300" y="2209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159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6370">
            <a:off x="10795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9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499" y="3111873"/>
            <a:ext cx="2667000" cy="20951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本次实验数据采集自</a:t>
            </a:r>
            <a:r>
              <a:rPr lang="en-US" sz="20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真实海洋环境监测场景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，包含海流、波浪、水质、气象等多维度的原始监测信息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62500" y="2032000"/>
            <a:ext cx="762000" cy="7620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0300" y="2209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715000" y="2159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数据结构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6370">
            <a:off x="47625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9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8999" y="3237381"/>
            <a:ext cx="2783541" cy="2159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数据由</a:t>
            </a:r>
            <a:r>
              <a:rPr lang="en-US" sz="2000" b="1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不同来源的独立文件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共同组成，非单一汇总表格。需先理清多源数据间的关联逻辑，再自主完成</a:t>
            </a:r>
            <a:r>
              <a:rPr lang="en-US" sz="20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数据整合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与清洗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8128000" y="18923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445500" y="2032000"/>
            <a:ext cx="762000" cy="7620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3300" y="2209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398000" y="2159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数据形式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6370">
            <a:off x="84455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9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31623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7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509000" y="327025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📁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训练集</a:t>
            </a:r>
            <a:endParaRPr lang="en-US" sz="2000" dirty="0"/>
          </a:p>
        </p:txBody>
      </p:sp>
      <p:sp>
        <p:nvSpPr>
          <p:cNvPr id="23" name="AutoShape 23"/>
          <p:cNvSpPr/>
          <p:nvPr/>
        </p:nvSpPr>
        <p:spPr>
          <a:xfrm>
            <a:off x="8572500" y="3683000"/>
            <a:ext cx="2212041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海流</a:t>
            </a:r>
            <a:r>
              <a:rPr 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波浪</a:t>
            </a:r>
            <a:r>
              <a:rPr 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水质</a:t>
            </a:r>
            <a:r>
              <a:rPr 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气象</a:t>
            </a:r>
            <a:r>
              <a:rPr 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设备状态</a:t>
            </a:r>
            <a:endParaRPr lang="en-US" sz="1600" dirty="0"/>
          </a:p>
        </p:txBody>
      </p:sp>
      <p:sp>
        <p:nvSpPr>
          <p:cNvPr id="24" name="AutoShape 24"/>
          <p:cNvSpPr/>
          <p:nvPr/>
        </p:nvSpPr>
        <p:spPr>
          <a:xfrm>
            <a:off x="8445500" y="4381500"/>
            <a:ext cx="2667000" cy="952500"/>
          </a:xfrm>
          <a:prstGeom prst="roundRect">
            <a:avLst>
              <a:gd name="adj" fmla="val 10666"/>
            </a:avLst>
          </a:prstGeom>
          <a:solidFill>
            <a:srgbClr val="F7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572500" y="44450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📂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</a:t>
            </a:r>
            <a:endParaRPr lang="en-US" sz="2000" dirty="0"/>
          </a:p>
        </p:txBody>
      </p:sp>
      <p:sp>
        <p:nvSpPr>
          <p:cNvPr id="26" name="AutoShape 26"/>
          <p:cNvSpPr/>
          <p:nvPr/>
        </p:nvSpPr>
        <p:spPr>
          <a:xfrm>
            <a:off x="8572500" y="485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与训练集对应的五大维度数据</a:t>
            </a:r>
            <a:endParaRPr lang="en-US" sz="1600" dirty="0"/>
          </a:p>
        </p:txBody>
      </p:sp>
      <p:sp>
        <p:nvSpPr>
          <p:cNvPr id="27" name="AutoShape 27"/>
          <p:cNvSpPr/>
          <p:nvPr/>
        </p:nvSpPr>
        <p:spPr>
          <a:xfrm>
            <a:off x="8382000" y="5626100"/>
            <a:ext cx="2667000" cy="457200"/>
          </a:xfrm>
          <a:prstGeom prst="roundRect">
            <a:avLst>
              <a:gd name="adj" fmla="val 22222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572500" y="5735171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📖 </a:t>
            </a:r>
            <a:r>
              <a:rPr lang="en-US" sz="11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辅助：字段说明表</a:t>
            </a:r>
            <a:r>
              <a:rPr lang="en-US" sz="1100" b="1" i="0" u="none" strike="noStrike" dirty="0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 (Meta Data)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原始数据类型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(1/3)：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物理环境数据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219198" y="1524000"/>
            <a:ext cx="10596283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409700" y="1714500"/>
            <a:ext cx="76200" cy="1968500"/>
          </a:xfrm>
          <a:prstGeom prst="roundRect">
            <a:avLst>
              <a:gd name="adj" fmla="val 5000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3700" y="1714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3622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海流数据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663700" y="2413000"/>
            <a:ext cx="44323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核心反映：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海水的整体流动状态</a:t>
            </a:r>
            <a:endParaRPr lang="en-US" sz="2000" dirty="0"/>
          </a:p>
          <a:p>
            <a:pPr indent="0"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📖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通俗理解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水往哪流、流多快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48399" y="2418603"/>
            <a:ext cx="5118847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📊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关键指标：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流速、流向、流速分量</a:t>
            </a:r>
            <a:endParaRPr lang="en-US" sz="2000" dirty="0"/>
          </a:p>
          <a:p>
            <a:pPr indent="0"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🔗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关联问题：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水体交换、盐度与营养输运</a:t>
            </a:r>
            <a:endParaRPr lang="en-US" sz="20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155699" y="4191000"/>
            <a:ext cx="10659781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346200" y="438150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0200" y="4381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298700" y="438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波浪数据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600199" y="5080000"/>
            <a:ext cx="4698999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核心反映：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海面波浪的动力状态</a:t>
            </a:r>
            <a:endParaRPr lang="en-US" sz="2000" dirty="0"/>
          </a:p>
          <a:p>
            <a:pPr indent="0"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📖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通俗理解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浪有多高、往哪传播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09018" y="5036297"/>
            <a:ext cx="5020982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📊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关键指标：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波高、周期、波向、能量</a:t>
            </a:r>
            <a:endParaRPr lang="en-US" sz="2000" dirty="0"/>
          </a:p>
          <a:p>
            <a:pPr indent="0"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🔗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关联问题：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水体扰动混合、水质波动</a:t>
            </a:r>
            <a:endParaRPr lang="en-US" sz="20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原始数据类型 (2/3)：核心水质数据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1574" y="1460500"/>
            <a:ext cx="9674084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5331" y="1714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014331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数据本质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2014331" y="2095500"/>
            <a:ext cx="8143458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直接反映水环境本身的物理化学状态。通俗来讲，就是回答“水环境本身到底怎么样”这个核心问题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sp>
        <p:nvSpPr>
          <p:cNvPr id="11" name="AutoShape 11"/>
          <p:cNvSpPr/>
          <p:nvPr/>
        </p:nvSpPr>
        <p:spPr>
          <a:xfrm>
            <a:off x="871331" y="3175000"/>
            <a:ext cx="9674086" cy="197485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8031" y="3857625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014331" y="33020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关键监测指标体系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14330" y="3746499"/>
            <a:ext cx="8143459" cy="13224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基础指标：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盐度(Sal)、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水温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(Temp)、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pH、浊度、溶解氧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(DO)等。</a:t>
            </a:r>
            <a:b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营养盐指标：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磷酸盐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(PO4)、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氨氮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(NH3)、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亚硝酸盐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(NO2)、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硝酸盐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(NO3)、</a:t>
            </a:r>
            <a:r>
              <a:rPr lang="en-US" sz="20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无机氮总量</a:t>
            </a:r>
            <a:r>
              <a:rPr lang="en-US" sz="20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sp>
        <p:nvSpPr>
          <p:cNvPr id="15" name="AutoShape 15"/>
          <p:cNvSpPr/>
          <p:nvPr/>
        </p:nvSpPr>
        <p:spPr>
          <a:xfrm>
            <a:off x="871332" y="5302250"/>
            <a:ext cx="9674085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5333" y="555625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014333" y="542925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实验重点关注方向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014332" y="5873750"/>
            <a:ext cx="730857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重点研究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盐度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(Sal)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的波动，以及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营养盐指标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的变化规律与趋势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原始数据类型 (3/3)：外部与辅助数据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905000" y="1778000"/>
            <a:ext cx="1016000" cy="10160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500" y="1968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气象数据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7188">
            <a:off x="1143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683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反映：</a:t>
            </a:r>
            <a:r>
              <a:rPr lang="en-US" sz="18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外部环境的天气条件</a:t>
            </a:r>
            <a:endParaRPr lang="en-US" sz="1800" dirty="0"/>
          </a:p>
          <a:p>
            <a:pPr indent="0" algn="l">
              <a:lnSpc>
                <a:spcPct val="150000"/>
              </a:lnSpc>
            </a:pPr>
            <a:r>
              <a:rPr lang="en-US" sz="1800" b="1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核心指标：</a:t>
            </a:r>
            <a:r>
              <a:rPr lang="en-US" sz="18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气温、湿度、气压、风向风速、降雨量等</a:t>
            </a:r>
            <a:r>
              <a:rPr lang="en-US" sz="18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445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588000" y="1778000"/>
            <a:ext cx="1016000" cy="10160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1968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99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设备状态数据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7188">
            <a:off x="4826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445000" y="3725518"/>
            <a:ext cx="3302000" cy="19894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反映：</a:t>
            </a:r>
            <a:r>
              <a:rPr lang="en-US" sz="18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监测设备自身的运行信息</a:t>
            </a:r>
            <a:endParaRPr lang="en-US" sz="1800" dirty="0"/>
          </a:p>
          <a:p>
            <a:pPr indent="0" algn="l">
              <a:lnSpc>
                <a:spcPct val="150000"/>
              </a:lnSpc>
            </a:pPr>
            <a:r>
              <a:rPr lang="en-US" sz="1800" b="1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核心指标：</a:t>
            </a:r>
            <a:r>
              <a:rPr lang="en-US" sz="18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设备温湿度、电池电压、经纬度定位信息等</a:t>
            </a:r>
            <a:r>
              <a:rPr lang="en-US" sz="18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71000" y="1778000"/>
            <a:ext cx="1016000" cy="10160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68500"/>
            <a:ext cx="635000" cy="635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382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字段说明表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7188">
            <a:off x="8509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382000" y="3683000"/>
            <a:ext cx="2794000" cy="1877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</a:t>
            </a:r>
            <a:r>
              <a:rPr lang="en-US" sz="18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数据的“字典”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查询字段含义、物理单位</a:t>
            </a:r>
            <a:r>
              <a:rPr lang="en-US" sz="18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实验主题：聚焦核心问题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200" b="1" i="0" u="none" strike="noStrike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“海洋环境中盐度和营养盐变化规律的分析与预测”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261600" cy="240527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984500"/>
            <a:ext cx="812800" cy="8128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31369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92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多维视角 · 深度解析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3429000"/>
            <a:ext cx="7688470" cy="22661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本次实验将围绕核心主题展开，鼓励大家从不同角度切入，结合课程所学的理论知识，对海洋环境数据进行全方位的拆解与分析。</a:t>
            </a:r>
            <a:endParaRPr lang="en-US" sz="2000" dirty="0"/>
          </a:p>
        </p:txBody>
      </p:sp>
      <p:sp>
        <p:nvSpPr>
          <p:cNvPr id="14" name="AutoShape 14"/>
          <p:cNvSpPr/>
          <p:nvPr/>
        </p:nvSpPr>
        <p:spPr>
          <a:xfrm>
            <a:off x="7493000" y="3429000"/>
            <a:ext cx="3937000" cy="24052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  <a:defRPr/>
            </a:pPr>
            <a:endParaRPr lang="en-US" sz="20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436</Words>
  <Application>Microsoft Office PowerPoint</Application>
  <PresentationFormat>宽屏</PresentationFormat>
  <Paragraphs>77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42</cp:revision>
  <dcterms:modified xsi:type="dcterms:W3CDTF">2026-04-16T05:43:26Z</dcterms:modified>
</cp:coreProperties>
</file>